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367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AI-assisted software modeling across two main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MODELING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Guide to Requirements Elicitation and Automated UML Diagram Generation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By the end of this course, you will be able to: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Explain why traditional requirements elicitation and UML modeling are time-consuming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Describe NLP techniques that extract structured requirements from free text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Trace the pipeline from natural language to class, use case, and sequence diagrams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Evaluate the strengths, limitations, and metrics for AI-assisted modeling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Apply human-in-the-loop principles in real requirements workflows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40-56%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software defects originate in requirements phase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83280" y="21945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failed projects cite poor requirements as root cause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17920" y="21945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modeler time spent manually drafting diagrams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help bridge the gap between informal stakeholder language and formal software models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15568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155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Elicitation Foundations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121408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214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Techniques &amp; Tools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27248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272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154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UML Generation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70A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1 - Requirements Elicitation with AI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REQUIREMENTS ENGINEERING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8580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0789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371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needs: interviews, workshops, documents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1168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947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2402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conflicts, remove ambiguity, prioritize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8036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816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1089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formal requirement document (SRS)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68580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4904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685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977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stakeholders, trace to design &amp; tests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FOUNDATIONS: FIVE KEY TECHNIQUES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Techniques: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5029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4630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text into words and sentences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5029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Tagging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21031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 parts of speech — nouns become classes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8229600" cy="5029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43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7432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domain entities and actors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8229600" cy="5029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83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Parsing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33832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grammar to system associations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8229600" cy="5029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23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/ LLMs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4023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representations for similarity &amp; generation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APPROACHES: COMPARISON TABLE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885205"/>
              </p:ext>
            </p:extLst>
          </p:nvPr>
        </p:nvGraphicFramePr>
        <p:xfrm>
          <a:off x="365760" y="1325880"/>
          <a:ext cx="8412480" cy="182880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Aspect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Rule-Based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Classical ML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LLM/Prompt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Data Needed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None (rules)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Labeled data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Few examples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Interpretability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Novel Phrasing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Poor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Moderate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Strong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Key: Most production pipelines mix all three approaches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INTERVIEW TO REQUIREMENTS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Interview: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840480" cy="2103120"/>
          </a:xfrm>
          <a:prstGeom prst="rect">
            <a:avLst/>
          </a:prstGeom>
          <a:solidFill>
            <a:srgbClr val="FFF8DC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"Customers keep calling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they forget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passwords. We want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self-reset via email,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link shouldn't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valid forever —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 30 minutes."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0058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Requirements: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325880"/>
            <a:ext cx="411480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[Func] Allow users to self-reset via email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828800"/>
            <a:ext cx="411480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874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[Sec] Link expires after 30 min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331720"/>
            <a:ext cx="411480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[NFR] Response time &lt; 2 sec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converted vague language into measurable, testable requirements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6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2 - Automated UML Diagram Generation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UML DIAGRAMS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structure: classes, attributes, relationships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70AD47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417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and the goals they achieve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03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423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Time-ordered interactions between objects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201168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8E7CC3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103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423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states, transitions, conditions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Class Diagrams with use case &amp; sequence diagrams covered at pipeline level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CONCEPT: LANGUAGE MAPS TO UML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table is the entire concept — memorize it!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027932"/>
              </p:ext>
            </p:extLst>
          </p:nvPr>
        </p:nvGraphicFramePr>
        <p:xfrm>
          <a:off x="457200" y="1371600"/>
          <a:ext cx="8229600" cy="155448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In the Sentence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Becomes in UML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Example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Noun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Class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Customer, Order, Product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Verb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Method/Association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places, contains, delivers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Adjective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Attribute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orderDate, totalAmount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"one", "many"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Multiplicity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3E50"/>
                          </a:solidFill>
                        </a:rPr>
                        <a:t>1..*, 0..1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solidFill>
            <a:srgbClr val="FFFACD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1546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MUST MEMORIZE: Apply this table to every exam question. Practice with 3-5 sentence requirements.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TEXT → CLASS DIAGRAM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840480" cy="1463040"/>
          </a:xfrm>
          <a:prstGeom prst="rect">
            <a:avLst/>
          </a:prstGeom>
          <a:solidFill>
            <a:srgbClr val="FFF8DC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Customer places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Orders. Each Order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Food Items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belongs to exactly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Restaurant."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0058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Diagram: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371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Nouns: Customer, Order, FoodItem, Restaurant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Verbs: places, contains, belongs to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Multiplicity: 1..* (many orders per customer)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Challenge: "belongs to" needs interpretation — is it 1:1 or 1:many?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DIAGRAM-AS-CODE: PlantUML &amp; MERMAID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Diagram-as-Code Enables Automation: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4475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45128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Versionable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691640"/>
            <a:ext cx="45128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Git; reviewed like code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229600" cy="59436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17627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176272"/>
            <a:ext cx="45128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Generatable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423160"/>
            <a:ext cx="45128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program that writes text can write UML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5943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90779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907792"/>
            <a:ext cx="45128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is Automatic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154680"/>
            <a:ext cx="45128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positions boxes; you state relationships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229600" cy="594360"/>
          </a:xfrm>
          <a:prstGeom prst="rect">
            <a:avLst/>
          </a:prstGeom>
          <a:solidFill>
            <a:srgbClr val="8E7CC3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63931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639312"/>
            <a:ext cx="45128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Regeneration is Cheap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886200"/>
            <a:ext cx="45128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requirement → re-run → diagram updates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DIRECTIONS: FORWARD vs REVERSE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FORWARD: Requirements → Diagram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Natural-language requirements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Extract entities &amp; relationships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Early design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✓ Happens early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✗ Inherits ambiguity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REVERSE: Code → Diagram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3258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Existing source code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Parse AST (abstract syntax tree)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Document legacy systems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✓ More reliable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✗ Happens late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Most real toolchains use BOTH approaches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vs LIMITATIONS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AI-Assisted UML Does Well: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Diagrams produced in seconds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Auto-regen when requirements change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traceability chain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Excellent for legacy systems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to Be Aware Of: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Ambiguous multiplicity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Missed implicit relationships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Over-generation (too many classes)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Requires human review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with Human Checkpoints: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74520" y="146304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70AD4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15087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2E75B6"/>
          </a:solidFill>
          <a:ln w="381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5087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63240" y="1051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C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70AD4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5087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UML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2E75B6"/>
          </a:solidFill>
          <a:ln w="381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5087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97880" y="1051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C55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543800" y="146304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70AD4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15087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Two human checkpoints — NEVER ZERO. AI accelerates work; humans ensure quality.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DEFINITIONS (MUST MEMORIZE)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6984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Elicitation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1069848"/>
            <a:ext cx="5349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Discovering what stakeholders need the system to 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solidFill>
            <a:srgbClr val="ECF0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6420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1664208"/>
            <a:ext cx="5349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requirement is testable if you can write a test for 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585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Model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2258568"/>
            <a:ext cx="5349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of entities, attributes, and relationships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ECF0F1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5292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Diagram-as-Code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2852928"/>
            <a:ext cx="5349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UML as text (PlantUML/Mermaid) for automation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4728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3447288"/>
            <a:ext cx="5349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proposes; humans validate and make final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PREPARATION CHECKLIST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Explain the 4-stage RE process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846320" y="10515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Name the 5 NLP techniques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Compare rule-based vs ML vs LLM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0" y="13716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Apply language-to-UML mapping table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Identify nouns, verbs, multiplicity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Flag vague/untestable requirements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Trace UML generation pipeline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0116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Distinguish FORWARD vs REVERSE engineering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List advantages and limitations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3317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Explain human-in-the-loop principle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these until you can do them without notes!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FFF8DC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"An Employee submits a TimeSheet. The system validates the hours and notifies the manager. If approved, the TimeSheet is archived for 7 years."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Identify all nouns and classify each as class or attribute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List all verbs and map to methods/associations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Identify ambiguous or untestable requirements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Draw a rough class diagram with 2+ associations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One-liner you MUST remember: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converts unstructured language into structured models — it accelerates modeling, not replaces engineering judgement."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Critical Principles: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AI is speed, not replacement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Human review mandatory at 2+ checkpoints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Ambiguous English → ambiguous models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2743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Language-to-UML mapping is universal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31089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5️⃣ Testability is the quality criterion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 TIPS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✏️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005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your work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29844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nouns/verbs first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10972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005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mapping table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0" y="129844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is your reference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874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ambiguity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1671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out vague words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💭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1874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limitations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21671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isn't the whole solution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8346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⏱️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743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0358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diagrams beforehand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8346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📖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0" y="2743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carefully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03520" y="303580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what's being asked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1158</Words>
  <Application>Microsoft Office PowerPoint</Application>
  <PresentationFormat>On-screen Show (16:9)</PresentationFormat>
  <Paragraphs>261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Mohanish Ghodeswar</cp:lastModifiedBy>
  <cp:revision>2</cp:revision>
  <dcterms:created xsi:type="dcterms:W3CDTF">2026-08-08T06:17:53Z</dcterms:created>
  <dcterms:modified xsi:type="dcterms:W3CDTF">2026-08-08T06:58:08Z</dcterms:modified>
</cp:coreProperties>
</file>